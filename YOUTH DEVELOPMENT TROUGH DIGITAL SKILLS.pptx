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59" r:id="rId6"/>
    <p:sldId id="262" r:id="rId7"/>
    <p:sldId id="265"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272DA20E-5D37-4FA4-966A-E9CDABAD88A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553441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9362106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101103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2818EF-CA29-4FDE-865D-35656B3A529A}"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31869397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2818EF-CA29-4FDE-865D-35656B3A529A}"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A20E-5D37-4FA4-966A-E9CDABAD88A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1072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2818EF-CA29-4FDE-865D-35656B3A529A}"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A20E-5D37-4FA4-966A-E9CDABAD88A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90702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818EF-CA29-4FDE-865D-35656B3A529A}"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29511446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2818EF-CA29-4FDE-865D-35656B3A529A}"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A20E-5D37-4FA4-966A-E9CDABAD88A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48766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2818EF-CA29-4FDE-865D-35656B3A529A}"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8409258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2818EF-CA29-4FDE-865D-35656B3A529A}"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20659410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69804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68287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spTree>
    <p:extLst>
      <p:ext uri="{BB962C8B-B14F-4D97-AF65-F5344CB8AC3E}">
        <p14:creationId xmlns:p14="http://schemas.microsoft.com/office/powerpoint/2010/main" val="27973082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9662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15518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72252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2818EF-CA29-4FDE-865D-35656B3A529A}"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A20E-5D37-4FA4-966A-E9CDABAD88A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13091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 name="applause.wav"/>
          </p:stSnd>
        </p:sndAc>
      </p:transition>
    </mc:Choice>
    <mc:Fallback>
      <p:transition spd="slow" advClick="0" advTm="5000">
        <p:fade/>
        <p:sndAc>
          <p:stSnd>
            <p:snd r:embed="rId1" name="applause.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C2818EF-CA29-4FDE-865D-35656B3A529A}" type="datetimeFigureOut">
              <a:rPr lang="en-US" smtClean="0"/>
              <a:t>4/30/2026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72DA20E-5D37-4FA4-966A-E9CDABAD88A1}" type="slidenum">
              <a:rPr lang="en-US" smtClean="0"/>
              <a:t>‹#›</a:t>
            </a:fld>
            <a:endParaRPr lang="en-US"/>
          </a:p>
        </p:txBody>
      </p:sp>
    </p:spTree>
    <p:extLst>
      <p:ext uri="{BB962C8B-B14F-4D97-AF65-F5344CB8AC3E}">
        <p14:creationId xmlns:p14="http://schemas.microsoft.com/office/powerpoint/2010/main" val="2667829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5="http://schemas.microsoft.com/office/powerpoint/2012/main" Requires="p15">
      <p:transition xmlns:p14="http://schemas.microsoft.com/office/powerpoint/2010/main" spd="slow" p14:dur="6000" advClick="0" advTm="5000">
        <p15:prstTrans prst="curtains"/>
        <p:sndAc>
          <p:stSnd>
            <p:snd r:embed="rId19" name="applause.wav"/>
          </p:stSnd>
        </p:sndAc>
      </p:transition>
    </mc:Choice>
    <mc:Fallback>
      <p:transition spd="slow" advClick="0" advTm="5000">
        <p:fade/>
        <p:sndAc>
          <p:stSnd>
            <p:snd r:embed="rId19" name="applause.wav"/>
          </p:stSnd>
        </p:sndAc>
      </p:transition>
    </mc:Fallback>
  </mc:AlternateConten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7.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audio" Target="../media/audio8.wav"/><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audio" Target="../media/audio9.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0.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25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1A47A-C3C1-4FA6-9C9B-1B550F4378C5}"/>
              </a:ext>
            </a:extLst>
          </p:cNvPr>
          <p:cNvSpPr>
            <a:spLocks noGrp="1"/>
          </p:cNvSpPr>
          <p:nvPr>
            <p:ph type="ctrTitle"/>
          </p:nvPr>
        </p:nvSpPr>
        <p:spPr>
          <a:xfrm>
            <a:off x="2799975" y="2164978"/>
            <a:ext cx="6815669" cy="3037040"/>
          </a:xfrm>
        </p:spPr>
        <p:txBody>
          <a:bodyPr>
            <a:normAutofit fontScale="90000"/>
          </a:bodyPr>
          <a:lstStyle/>
          <a:p>
            <a:r>
              <a:rPr lang="en-US" dirty="0">
                <a:latin typeface="Cooper Std Black" panose="0208090304030B020404" pitchFamily="18" charset="0"/>
              </a:rPr>
              <a:t>YOUTH DEVELOPMENT TROUGH DIGITAL SKILLS</a:t>
            </a:r>
          </a:p>
        </p:txBody>
      </p:sp>
    </p:spTree>
    <p:extLst>
      <p:ext uri="{BB962C8B-B14F-4D97-AF65-F5344CB8AC3E}">
        <p14:creationId xmlns:p14="http://schemas.microsoft.com/office/powerpoint/2010/main" val="3261270581"/>
      </p:ext>
    </p:extLst>
  </p:cSld>
  <p:clrMapOvr>
    <a:masterClrMapping/>
  </p:clrMapOvr>
  <p:transition spd="slow" advClick="0" advTm="2000">
    <p:cover/>
    <p:sndAc>
      <p:stSnd>
        <p:snd r:embed="rId2" name="arrow.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25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E45FD-BDF1-4F38-89BD-9F6AA0058DCB}"/>
              </a:ext>
            </a:extLst>
          </p:cNvPr>
          <p:cNvSpPr>
            <a:spLocks noGrp="1"/>
          </p:cNvSpPr>
          <p:nvPr>
            <p:ph type="title"/>
          </p:nvPr>
        </p:nvSpPr>
        <p:spPr/>
        <p:txBody>
          <a:bodyPr/>
          <a:lstStyle/>
          <a:p>
            <a:r>
              <a:rPr lang="en-US" dirty="0">
                <a:latin typeface="Cooper Std Black" panose="0208090304030B020404" pitchFamily="18" charset="0"/>
              </a:rPr>
              <a:t>PREAMBLE</a:t>
            </a:r>
          </a:p>
        </p:txBody>
      </p:sp>
      <p:sp>
        <p:nvSpPr>
          <p:cNvPr id="3" name="Content Placeholder 2">
            <a:extLst>
              <a:ext uri="{FF2B5EF4-FFF2-40B4-BE49-F238E27FC236}">
                <a16:creationId xmlns:a16="http://schemas.microsoft.com/office/drawing/2014/main" id="{4ACA3C1A-A8CB-4642-86EC-5EEC61DC92BF}"/>
              </a:ext>
            </a:extLst>
          </p:cNvPr>
          <p:cNvSpPr>
            <a:spLocks noGrp="1"/>
          </p:cNvSpPr>
          <p:nvPr>
            <p:ph idx="1"/>
          </p:nvPr>
        </p:nvSpPr>
        <p:spPr/>
        <p:txBody>
          <a:bodyPr/>
          <a:lstStyle/>
          <a:p>
            <a:pPr marL="0" indent="0" algn="ctr">
              <a:buNone/>
            </a:pPr>
            <a:r>
              <a:rPr lang="en-US" dirty="0">
                <a:latin typeface="Adobe Gothic Std B" panose="020B0800000000000000" pitchFamily="34" charset="-128"/>
                <a:ea typeface="Adobe Gothic Std B" panose="020B0800000000000000" pitchFamily="34" charset="-128"/>
              </a:rPr>
              <a:t>In an era defined by rapid technological advancements, the future of any nation rests firmly on the shoulders of the youth. Nigeria, with over 60% of its population under the age of 25, equipping the young people with skills like coding, digital marketing, and data analysis transforms them from job seekers into job creators. In today’s digital economy, these skills break barriers and open global opportunities.</a:t>
            </a:r>
          </a:p>
        </p:txBody>
      </p:sp>
    </p:spTree>
    <p:extLst>
      <p:ext uri="{BB962C8B-B14F-4D97-AF65-F5344CB8AC3E}">
        <p14:creationId xmlns:p14="http://schemas.microsoft.com/office/powerpoint/2010/main" val="41309702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Click="0" advTm="2000">
        <p15:prstTrans prst="drape"/>
        <p:sndAc>
          <p:stSnd>
            <p:snd r:embed="rId2" name="bomb.wav"/>
          </p:stSnd>
        </p:sndAc>
      </p:transition>
    </mc:Choice>
    <mc:Fallback>
      <p:transition spd="slow" advClick="0" advTm="2000">
        <p:fade/>
        <p:sndAc>
          <p:stSnd>
            <p:snd r:embed="rId2" name="bomb.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10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59C5B-FA9D-4797-B77E-43F32E5D1507}"/>
              </a:ext>
            </a:extLst>
          </p:cNvPr>
          <p:cNvSpPr>
            <a:spLocks noGrp="1"/>
          </p:cNvSpPr>
          <p:nvPr>
            <p:ph type="title"/>
          </p:nvPr>
        </p:nvSpPr>
        <p:spPr/>
        <p:txBody>
          <a:bodyPr/>
          <a:lstStyle/>
          <a:p>
            <a:r>
              <a:rPr lang="en-US" dirty="0">
                <a:latin typeface="Cooper Std Black" panose="0208090304030B020404" pitchFamily="18" charset="0"/>
              </a:rPr>
              <a:t>WHAT ARE DIGITAL SKILLS</a:t>
            </a:r>
          </a:p>
        </p:txBody>
      </p:sp>
      <p:sp>
        <p:nvSpPr>
          <p:cNvPr id="3" name="Content Placeholder 2">
            <a:extLst>
              <a:ext uri="{FF2B5EF4-FFF2-40B4-BE49-F238E27FC236}">
                <a16:creationId xmlns:a16="http://schemas.microsoft.com/office/drawing/2014/main" id="{D24ACD84-3640-4605-B0EA-3AE92995BD10}"/>
              </a:ext>
            </a:extLst>
          </p:cNvPr>
          <p:cNvSpPr>
            <a:spLocks noGrp="1"/>
          </p:cNvSpPr>
          <p:nvPr>
            <p:ph idx="1"/>
          </p:nvPr>
        </p:nvSpPr>
        <p:spPr/>
        <p:txBody>
          <a:bodyPr>
            <a:normAutofit fontScale="92500" lnSpcReduction="10000"/>
          </a:bodyPr>
          <a:lstStyle/>
          <a:p>
            <a:pPr marL="0" indent="0" algn="ctr">
              <a:buNone/>
            </a:pPr>
            <a:r>
              <a:rPr lang="en-US" sz="2800" dirty="0">
                <a:latin typeface="Adobe Gothic Std B" panose="020B0800000000000000" pitchFamily="34" charset="-128"/>
                <a:ea typeface="Adobe Gothic Std B" panose="020B0800000000000000" pitchFamily="34" charset="-128"/>
              </a:rPr>
              <a:t>Digital skills are the abilities you need to use computers, the internet, mobile phones, and other digital tools to find, create, and share information. </a:t>
            </a:r>
          </a:p>
          <a:p>
            <a:pPr marL="0" indent="0" algn="ctr">
              <a:buNone/>
            </a:pPr>
            <a:r>
              <a:rPr lang="en-US" sz="2800" dirty="0">
                <a:latin typeface="Adobe Gothic Std B" panose="020B0800000000000000" pitchFamily="34" charset="-128"/>
                <a:ea typeface="Adobe Gothic Std B" panose="020B0800000000000000" pitchFamily="34" charset="-128"/>
              </a:rPr>
              <a:t>In 2026, they are as basic as reading and writing were 50 years ago.</a:t>
            </a:r>
          </a:p>
          <a:p>
            <a:pPr marL="0" indent="0" algn="ctr">
              <a:buNone/>
            </a:pPr>
            <a:r>
              <a:rPr lang="en-US" sz="2800" dirty="0">
                <a:latin typeface="Adobe Gothic Std B" panose="020B0800000000000000" pitchFamily="34" charset="-128"/>
                <a:ea typeface="Adobe Gothic Std B" panose="020B0800000000000000" pitchFamily="34" charset="-128"/>
              </a:rPr>
              <a:t>Digital skills are not just for tech people, they are the survival skills for the 21</a:t>
            </a:r>
            <a:r>
              <a:rPr lang="en-US" sz="2800" baseline="30000" dirty="0">
                <a:latin typeface="Adobe Gothic Std B" panose="020B0800000000000000" pitchFamily="34" charset="-128"/>
                <a:ea typeface="Adobe Gothic Std B" panose="020B0800000000000000" pitchFamily="34" charset="-128"/>
              </a:rPr>
              <a:t>st</a:t>
            </a:r>
            <a:r>
              <a:rPr lang="en-US" sz="2800" dirty="0">
                <a:latin typeface="Adobe Gothic Std B" panose="020B0800000000000000" pitchFamily="34" charset="-128"/>
                <a:ea typeface="Adobe Gothic Std B" panose="020B0800000000000000" pitchFamily="34" charset="-128"/>
              </a:rPr>
              <a:t> century. Whether you want to be a doctor, artist, trader, or CEO, digital skills decide how far you will go.</a:t>
            </a:r>
          </a:p>
        </p:txBody>
      </p:sp>
    </p:spTree>
    <p:extLst>
      <p:ext uri="{BB962C8B-B14F-4D97-AF65-F5344CB8AC3E}">
        <p14:creationId xmlns:p14="http://schemas.microsoft.com/office/powerpoint/2010/main" val="3237835256"/>
      </p:ext>
    </p:extLst>
  </p:cSld>
  <p:clrMapOvr>
    <a:masterClrMapping/>
  </p:clrMapOvr>
  <mc:AlternateContent xmlns:mc="http://schemas.openxmlformats.org/markup-compatibility/2006">
    <mc:Choice xmlns:p14="http://schemas.microsoft.com/office/powerpoint/2010/main" Requires="p14">
      <p:transition spd="slow" advClick="0" advTm="2000">
        <p14:flash/>
        <p:sndAc>
          <p:stSnd>
            <p:snd r:embed="rId2" name="breeze.wav"/>
          </p:stSnd>
        </p:sndAc>
      </p:transition>
    </mc:Choice>
    <mc:Fallback>
      <p:transition spd="slow" advClick="0" advTm="2000">
        <p:fade/>
        <p:sndAc>
          <p:stSnd>
            <p:snd r:embed="rId2" name="breeze.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25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ECC2-9973-445B-8141-E27B44A6F6A2}"/>
              </a:ext>
            </a:extLst>
          </p:cNvPr>
          <p:cNvSpPr>
            <a:spLocks noGrp="1"/>
          </p:cNvSpPr>
          <p:nvPr>
            <p:ph type="title"/>
          </p:nvPr>
        </p:nvSpPr>
        <p:spPr/>
        <p:txBody>
          <a:bodyPr/>
          <a:lstStyle/>
          <a:p>
            <a:r>
              <a:rPr lang="en-US" dirty="0">
                <a:latin typeface="Cooper Std Black" panose="0208090304030B020404" pitchFamily="18" charset="0"/>
              </a:rPr>
              <a:t>AIMS AND OBJECTIVE</a:t>
            </a:r>
          </a:p>
        </p:txBody>
      </p:sp>
      <p:sp>
        <p:nvSpPr>
          <p:cNvPr id="3" name="Content Placeholder 2">
            <a:extLst>
              <a:ext uri="{FF2B5EF4-FFF2-40B4-BE49-F238E27FC236}">
                <a16:creationId xmlns:a16="http://schemas.microsoft.com/office/drawing/2014/main" id="{28BD45F5-1F7C-4CD5-ABFF-811877901FDA}"/>
              </a:ext>
            </a:extLst>
          </p:cNvPr>
          <p:cNvSpPr>
            <a:spLocks noGrp="1"/>
          </p:cNvSpPr>
          <p:nvPr>
            <p:ph idx="1"/>
          </p:nvPr>
        </p:nvSpPr>
        <p:spPr>
          <a:xfrm>
            <a:off x="1295402" y="2550777"/>
            <a:ext cx="9871363" cy="3491345"/>
          </a:xfrm>
        </p:spPr>
        <p:txBody>
          <a:bodyPr>
            <a:normAutofit lnSpcReduction="10000"/>
          </a:bodyPr>
          <a:lstStyle/>
          <a:p>
            <a:pPr marL="457200" indent="-457200">
              <a:buFont typeface="+mj-lt"/>
              <a:buAutoNum type="arabicPeriod"/>
            </a:pPr>
            <a:r>
              <a:rPr lang="en-US" dirty="0">
                <a:latin typeface="Adobe Gothic Std B" panose="020B0800000000000000" pitchFamily="34" charset="-128"/>
                <a:ea typeface="Adobe Gothic Std B" panose="020B0800000000000000" pitchFamily="34" charset="-128"/>
              </a:rPr>
              <a:t> Economic Empowerment</a:t>
            </a:r>
          </a:p>
          <a:p>
            <a:pPr lvl="1">
              <a:buFont typeface="Arial" panose="020B0604020202020204" pitchFamily="34" charset="0"/>
              <a:buChar char="•"/>
            </a:pPr>
            <a:r>
              <a:rPr lang="en-US" dirty="0">
                <a:latin typeface="Adobe Gothic Std B" panose="020B0800000000000000" pitchFamily="34" charset="-128"/>
                <a:ea typeface="Adobe Gothic Std B" panose="020B0800000000000000" pitchFamily="34" charset="-128"/>
              </a:rPr>
              <a:t>Digital skills reduce youth unemployment by training youths for-high demand tech jobs.</a:t>
            </a:r>
          </a:p>
          <a:p>
            <a:pPr marL="457200" indent="-457200">
              <a:buFont typeface="+mj-lt"/>
              <a:buAutoNum type="arabicPeriod"/>
            </a:pPr>
            <a:r>
              <a:rPr lang="en-US" dirty="0">
                <a:latin typeface="Adobe Gothic Std B" panose="020B0800000000000000" pitchFamily="34" charset="-128"/>
                <a:ea typeface="Adobe Gothic Std B" panose="020B0800000000000000" pitchFamily="34" charset="-128"/>
              </a:rPr>
              <a:t>Social Development</a:t>
            </a:r>
          </a:p>
          <a:p>
            <a:pPr lvl="1"/>
            <a:r>
              <a:rPr lang="en-US" dirty="0">
                <a:latin typeface="Adobe Gothic Std B" panose="020B0800000000000000" pitchFamily="34" charset="-128"/>
                <a:ea typeface="Adobe Gothic Std B" panose="020B0800000000000000" pitchFamily="34" charset="-128"/>
              </a:rPr>
              <a:t>Encourages civic participation through digital advocacy, content creation, and online community building</a:t>
            </a:r>
          </a:p>
          <a:p>
            <a:pPr marL="457200" indent="-457200">
              <a:buFont typeface="+mj-lt"/>
              <a:buAutoNum type="arabicPeriod"/>
            </a:pPr>
            <a:r>
              <a:rPr lang="en-US" dirty="0">
                <a:latin typeface="Adobe Gothic Std B" panose="020B0800000000000000" pitchFamily="34" charset="-128"/>
                <a:ea typeface="Adobe Gothic Std B" panose="020B0800000000000000" pitchFamily="34" charset="-128"/>
              </a:rPr>
              <a:t>Future Readiness</a:t>
            </a:r>
          </a:p>
          <a:p>
            <a:pPr lvl="1"/>
            <a:r>
              <a:rPr lang="en-US" dirty="0">
                <a:latin typeface="Adobe Gothic Std B" panose="020B0800000000000000" pitchFamily="34" charset="-128"/>
                <a:ea typeface="Adobe Gothic Std B" panose="020B0800000000000000" pitchFamily="34" charset="-128"/>
              </a:rPr>
              <a:t>Prepare youth for industry 4.0 jobs in AI, cybersecurity, cloud computing, and data science.</a:t>
            </a:r>
          </a:p>
        </p:txBody>
      </p:sp>
    </p:spTree>
    <p:extLst>
      <p:ext uri="{BB962C8B-B14F-4D97-AF65-F5344CB8AC3E}">
        <p14:creationId xmlns:p14="http://schemas.microsoft.com/office/powerpoint/2010/main" val="2344870691"/>
      </p:ext>
    </p:extLst>
  </p:cSld>
  <p:clrMapOvr>
    <a:masterClrMapping/>
  </p:clrMapOvr>
  <p:transition spd="slow" advClick="0" advTm="2000">
    <p:cover/>
    <p:sndAc>
      <p:stSnd>
        <p:snd r:embed="rId2"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25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FA2EA-35C5-4662-B829-6159A8165A9F}"/>
              </a:ext>
            </a:extLst>
          </p:cNvPr>
          <p:cNvSpPr>
            <a:spLocks noGrp="1"/>
          </p:cNvSpPr>
          <p:nvPr>
            <p:ph type="title"/>
          </p:nvPr>
        </p:nvSpPr>
        <p:spPr/>
        <p:txBody>
          <a:bodyPr/>
          <a:lstStyle/>
          <a:p>
            <a:r>
              <a:rPr lang="en-US" dirty="0">
                <a:latin typeface="Cooper Std Black" panose="0208090304030B020404" pitchFamily="18" charset="0"/>
              </a:rPr>
              <a:t>ADVANTAGES</a:t>
            </a:r>
          </a:p>
        </p:txBody>
      </p:sp>
      <p:sp>
        <p:nvSpPr>
          <p:cNvPr id="3" name="Content Placeholder 2">
            <a:extLst>
              <a:ext uri="{FF2B5EF4-FFF2-40B4-BE49-F238E27FC236}">
                <a16:creationId xmlns:a16="http://schemas.microsoft.com/office/drawing/2014/main" id="{84434305-F12C-4FF5-8B7A-B2A6771D9174}"/>
              </a:ext>
            </a:extLst>
          </p:cNvPr>
          <p:cNvSpPr>
            <a:spLocks noGrp="1"/>
          </p:cNvSpPr>
          <p:nvPr>
            <p:ph idx="1"/>
          </p:nvPr>
        </p:nvSpPr>
        <p:spPr>
          <a:xfrm>
            <a:off x="976745" y="2681622"/>
            <a:ext cx="10238509" cy="3318937"/>
          </a:xfrm>
        </p:spPr>
        <p:txBody>
          <a:bodyPr>
            <a:normAutofit fontScale="92500" lnSpcReduction="10000"/>
          </a:bodyPr>
          <a:lstStyle/>
          <a:p>
            <a:r>
              <a:rPr lang="en-US" dirty="0">
                <a:latin typeface="Adobe Gothic Std B" panose="020B0800000000000000" pitchFamily="34" charset="-128"/>
                <a:ea typeface="Adobe Gothic Std B" panose="020B0800000000000000" pitchFamily="34" charset="-128"/>
              </a:rPr>
              <a:t>Digital skills reduces dependence on government jobs or family support.</a:t>
            </a:r>
          </a:p>
          <a:p>
            <a:r>
              <a:rPr lang="en-US" dirty="0">
                <a:latin typeface="Adobe Gothic Std B" panose="020B0800000000000000" pitchFamily="34" charset="-128"/>
                <a:ea typeface="Adobe Gothic Std B" panose="020B0800000000000000" pitchFamily="34" charset="-128"/>
              </a:rPr>
              <a:t>Digital work removes physical barriers, helping young women earn independently.</a:t>
            </a:r>
          </a:p>
          <a:p>
            <a:r>
              <a:rPr lang="en-US" dirty="0">
                <a:latin typeface="Adobe Gothic Std B" panose="020B0800000000000000" pitchFamily="34" charset="-128"/>
                <a:ea typeface="Adobe Gothic Std B" panose="020B0800000000000000" pitchFamily="34" charset="-128"/>
              </a:rPr>
              <a:t>Tech-savvy youths builds apps which helps solve local problems.</a:t>
            </a:r>
          </a:p>
          <a:p>
            <a:r>
              <a:rPr lang="en-US" dirty="0">
                <a:latin typeface="Adobe Gothic Std B" panose="020B0800000000000000" pitchFamily="34" charset="-128"/>
                <a:ea typeface="Adobe Gothic Std B" panose="020B0800000000000000" pitchFamily="34" charset="-128"/>
              </a:rPr>
              <a:t>It provides equal opportunities for youth in rural areas and urban areas.</a:t>
            </a:r>
          </a:p>
          <a:p>
            <a:r>
              <a:rPr lang="en-US" dirty="0">
                <a:latin typeface="Adobe Gothic Std B" panose="020B0800000000000000" pitchFamily="34" charset="-128"/>
                <a:ea typeface="Adobe Gothic Std B" panose="020B0800000000000000" pitchFamily="34" charset="-128"/>
              </a:rPr>
              <a:t>Digital skills pay 3x-5x more than many traditional entry-level jobs in Nigeria.</a:t>
            </a:r>
          </a:p>
          <a:p>
            <a:r>
              <a:rPr lang="en-US" dirty="0">
                <a:latin typeface="Adobe Gothic Std B" panose="020B0800000000000000" pitchFamily="34" charset="-128"/>
                <a:ea typeface="Adobe Gothic Std B" panose="020B0800000000000000" pitchFamily="34" charset="-128"/>
              </a:rPr>
              <a:t>It creates a sense of achievement for youth.</a:t>
            </a:r>
          </a:p>
          <a:p>
            <a:endParaRPr lang="en-US" dirty="0"/>
          </a:p>
          <a:p>
            <a:endParaRPr lang="en-US" dirty="0"/>
          </a:p>
          <a:p>
            <a:endParaRPr lang="en-US" dirty="0"/>
          </a:p>
        </p:txBody>
      </p:sp>
    </p:spTree>
    <p:extLst>
      <p:ext uri="{BB962C8B-B14F-4D97-AF65-F5344CB8AC3E}">
        <p14:creationId xmlns:p14="http://schemas.microsoft.com/office/powerpoint/2010/main" val="2055677479"/>
      </p:ext>
    </p:extLst>
  </p:cSld>
  <p:clrMapOvr>
    <a:masterClrMapping/>
  </p:clrMapOvr>
  <p:transition spd="med" advClick="0" advTm="2000">
    <p:pull/>
    <p:sndAc>
      <p:stSnd>
        <p:snd r:embed="rId2" name="cashreg.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50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EFEE-ED1E-4EB3-879C-5EC144CEDBF5}"/>
              </a:ext>
            </a:extLst>
          </p:cNvPr>
          <p:cNvSpPr>
            <a:spLocks noGrp="1"/>
          </p:cNvSpPr>
          <p:nvPr>
            <p:ph type="title"/>
          </p:nvPr>
        </p:nvSpPr>
        <p:spPr/>
        <p:txBody>
          <a:bodyPr/>
          <a:lstStyle/>
          <a:p>
            <a:r>
              <a:rPr lang="en-US" dirty="0">
                <a:latin typeface="Cooper Std Black" panose="0208090304030B020404" pitchFamily="18" charset="0"/>
              </a:rPr>
              <a:t>DIGITAL SKILLS TO LEARN </a:t>
            </a:r>
          </a:p>
        </p:txBody>
      </p:sp>
      <p:sp>
        <p:nvSpPr>
          <p:cNvPr id="3" name="Content Placeholder 2">
            <a:extLst>
              <a:ext uri="{FF2B5EF4-FFF2-40B4-BE49-F238E27FC236}">
                <a16:creationId xmlns:a16="http://schemas.microsoft.com/office/drawing/2014/main" id="{7E13B9C5-C20D-4040-87C4-F61149AA6F9F}"/>
              </a:ext>
            </a:extLst>
          </p:cNvPr>
          <p:cNvSpPr>
            <a:spLocks noGrp="1"/>
          </p:cNvSpPr>
          <p:nvPr>
            <p:ph idx="1"/>
          </p:nvPr>
        </p:nvSpPr>
        <p:spPr/>
        <p:txBody>
          <a:bodyPr/>
          <a:lstStyle/>
          <a:p>
            <a:r>
              <a:rPr lang="en-US" dirty="0">
                <a:latin typeface="Adobe Gothic Std B" panose="020B0800000000000000" pitchFamily="34" charset="-128"/>
                <a:ea typeface="Adobe Gothic Std B" panose="020B0800000000000000" pitchFamily="34" charset="-128"/>
              </a:rPr>
              <a:t>Digital Marketing : Helping businesses get customers online</a:t>
            </a:r>
          </a:p>
          <a:p>
            <a:r>
              <a:rPr lang="en-US" dirty="0">
                <a:latin typeface="Adobe Gothic Std B" panose="020B0800000000000000" pitchFamily="34" charset="-128"/>
                <a:ea typeface="Adobe Gothic Std B" panose="020B0800000000000000" pitchFamily="34" charset="-128"/>
              </a:rPr>
              <a:t>UI/UX Design: Building websites with WordPress, </a:t>
            </a:r>
            <a:r>
              <a:rPr lang="en-US" dirty="0" err="1">
                <a:latin typeface="Adobe Gothic Std B" panose="020B0800000000000000" pitchFamily="34" charset="-128"/>
                <a:ea typeface="Adobe Gothic Std B" panose="020B0800000000000000" pitchFamily="34" charset="-128"/>
              </a:rPr>
              <a:t>Wix</a:t>
            </a:r>
            <a:r>
              <a:rPr lang="en-US" dirty="0">
                <a:latin typeface="Adobe Gothic Std B" panose="020B0800000000000000" pitchFamily="34" charset="-128"/>
                <a:ea typeface="Adobe Gothic Std B" panose="020B0800000000000000" pitchFamily="34" charset="-128"/>
              </a:rPr>
              <a:t>, </a:t>
            </a:r>
            <a:r>
              <a:rPr lang="en-US" dirty="0" err="1">
                <a:latin typeface="Adobe Gothic Std B" panose="020B0800000000000000" pitchFamily="34" charset="-128"/>
                <a:ea typeface="Adobe Gothic Std B" panose="020B0800000000000000" pitchFamily="34" charset="-128"/>
              </a:rPr>
              <a:t>Webflow</a:t>
            </a:r>
            <a:r>
              <a:rPr lang="en-US" dirty="0">
                <a:latin typeface="Adobe Gothic Std B" panose="020B0800000000000000" pitchFamily="34" charset="-128"/>
                <a:ea typeface="Adobe Gothic Std B" panose="020B0800000000000000" pitchFamily="34" charset="-128"/>
              </a:rPr>
              <a:t>.</a:t>
            </a:r>
          </a:p>
          <a:p>
            <a:r>
              <a:rPr lang="en-US" dirty="0">
                <a:latin typeface="Adobe Gothic Std B" panose="020B0800000000000000" pitchFamily="34" charset="-128"/>
                <a:ea typeface="Adobe Gothic Std B" panose="020B0800000000000000" pitchFamily="34" charset="-128"/>
              </a:rPr>
              <a:t>Web Development: Building sites and apps with React.</a:t>
            </a:r>
          </a:p>
          <a:p>
            <a:r>
              <a:rPr lang="en-US" dirty="0">
                <a:latin typeface="Adobe Gothic Std B" panose="020B0800000000000000" pitchFamily="34" charset="-128"/>
                <a:ea typeface="Adobe Gothic Std B" panose="020B0800000000000000" pitchFamily="34" charset="-128"/>
              </a:rPr>
              <a:t>Cybersecurity: Protecting companies from hackers.</a:t>
            </a:r>
          </a:p>
          <a:p>
            <a:r>
              <a:rPr lang="en-US" dirty="0">
                <a:latin typeface="Adobe Gothic Std B" panose="020B0800000000000000" pitchFamily="34" charset="-128"/>
                <a:ea typeface="Adobe Gothic Std B" panose="020B0800000000000000" pitchFamily="34" charset="-128"/>
              </a:rPr>
              <a:t>AI Prompt Engineering: Building Workflows with </a:t>
            </a:r>
            <a:r>
              <a:rPr lang="en-US" dirty="0" err="1">
                <a:latin typeface="Adobe Gothic Std B" panose="020B0800000000000000" pitchFamily="34" charset="-128"/>
                <a:ea typeface="Adobe Gothic Std B" panose="020B0800000000000000" pitchFamily="34" charset="-128"/>
              </a:rPr>
              <a:t>ChatGPT</a:t>
            </a:r>
            <a:r>
              <a:rPr lang="en-US" dirty="0">
                <a:latin typeface="Adobe Gothic Std B" panose="020B0800000000000000" pitchFamily="34" charset="-128"/>
                <a:ea typeface="Adobe Gothic Std B" panose="020B0800000000000000" pitchFamily="34" charset="-128"/>
              </a:rPr>
              <a:t>.</a:t>
            </a:r>
          </a:p>
          <a:p>
            <a:r>
              <a:rPr lang="en-US" dirty="0">
                <a:latin typeface="Adobe Gothic Std B" panose="020B0800000000000000" pitchFamily="34" charset="-128"/>
                <a:ea typeface="Adobe Gothic Std B" panose="020B0800000000000000" pitchFamily="34" charset="-128"/>
              </a:rPr>
              <a:t>Graphic Design: Make flyers, logos, social media posts.</a:t>
            </a:r>
          </a:p>
        </p:txBody>
      </p:sp>
    </p:spTree>
    <p:extLst>
      <p:ext uri="{BB962C8B-B14F-4D97-AF65-F5344CB8AC3E}">
        <p14:creationId xmlns:p14="http://schemas.microsoft.com/office/powerpoint/2010/main" val="242749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Click="0" advTm="2000">
        <p15:prstTrans prst="wind"/>
        <p:sndAc>
          <p:stSnd>
            <p:snd r:embed="rId2" name="chimes.wav"/>
          </p:stSnd>
        </p:sndAc>
      </p:transition>
    </mc:Choice>
    <mc:Fallback>
      <p:transition spd="slow" advClick="0" advTm="2000">
        <p:fade/>
        <p:sndAc>
          <p:stSnd>
            <p:snd r:embed="rId2" name="chimes.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50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521A7-90D1-49E7-8653-915B0520444F}"/>
              </a:ext>
            </a:extLst>
          </p:cNvPr>
          <p:cNvSpPr>
            <a:spLocks noGrp="1"/>
          </p:cNvSpPr>
          <p:nvPr>
            <p:ph type="title"/>
          </p:nvPr>
        </p:nvSpPr>
        <p:spPr/>
        <p:txBody>
          <a:bodyPr>
            <a:normAutofit fontScale="90000"/>
          </a:bodyPr>
          <a:lstStyle/>
          <a:p>
            <a:r>
              <a:rPr lang="en-US" dirty="0">
                <a:latin typeface="Cooper Std Black" panose="0208090304030B020404" pitchFamily="18" charset="0"/>
              </a:rPr>
              <a:t>IMAGES OF YOUTH LEARNING DIGITAL SKILLS</a:t>
            </a:r>
          </a:p>
        </p:txBody>
      </p:sp>
      <p:pic>
        <p:nvPicPr>
          <p:cNvPr id="5" name="Content Placeholder 4">
            <a:extLst>
              <a:ext uri="{FF2B5EF4-FFF2-40B4-BE49-F238E27FC236}">
                <a16:creationId xmlns:a16="http://schemas.microsoft.com/office/drawing/2014/main" id="{70E36A96-74E7-4A3F-AEEC-147EBA0329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71164" y="2590799"/>
            <a:ext cx="2426452" cy="3602184"/>
          </a:xfrm>
        </p:spPr>
      </p:pic>
      <p:pic>
        <p:nvPicPr>
          <p:cNvPr id="7" name="Picture 6">
            <a:extLst>
              <a:ext uri="{FF2B5EF4-FFF2-40B4-BE49-F238E27FC236}">
                <a16:creationId xmlns:a16="http://schemas.microsoft.com/office/drawing/2014/main" id="{1960FB6C-313B-4B4C-BC76-30F19BD4CF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9489" y="2590798"/>
            <a:ext cx="2297165" cy="3602183"/>
          </a:xfrm>
          <a:prstGeom prst="rect">
            <a:avLst/>
          </a:prstGeom>
        </p:spPr>
      </p:pic>
      <p:pic>
        <p:nvPicPr>
          <p:cNvPr id="9" name="Picture 8">
            <a:extLst>
              <a:ext uri="{FF2B5EF4-FFF2-40B4-BE49-F238E27FC236}">
                <a16:creationId xmlns:a16="http://schemas.microsoft.com/office/drawing/2014/main" id="{1FBFE3F6-5CF1-4AA1-8B6E-09B0EB4DB2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64676" y="2590799"/>
            <a:ext cx="2297165" cy="3602183"/>
          </a:xfrm>
          <a:prstGeom prst="rect">
            <a:avLst/>
          </a:prstGeom>
        </p:spPr>
      </p:pic>
    </p:spTree>
    <p:extLst>
      <p:ext uri="{BB962C8B-B14F-4D97-AF65-F5344CB8AC3E}">
        <p14:creationId xmlns:p14="http://schemas.microsoft.com/office/powerpoint/2010/main" val="21903770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Click="0" advTm="2000">
        <p15:prstTrans prst="prestige"/>
        <p:sndAc>
          <p:stSnd>
            <p:snd r:embed="rId2" name="click.wav"/>
          </p:stSnd>
        </p:sndAc>
      </p:transition>
    </mc:Choice>
    <mc:Fallback>
      <p:transition spd="slow" advClick="0" advTm="2000">
        <p:fade/>
        <p:sndAc>
          <p:stSnd>
            <p:snd r:embed="rId2" name="click.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50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F076-A84E-4782-85EF-DDA17A5F6470}"/>
              </a:ext>
            </a:extLst>
          </p:cNvPr>
          <p:cNvSpPr>
            <a:spLocks noGrp="1"/>
          </p:cNvSpPr>
          <p:nvPr>
            <p:ph type="title"/>
          </p:nvPr>
        </p:nvSpPr>
        <p:spPr/>
        <p:txBody>
          <a:bodyPr/>
          <a:lstStyle/>
          <a:p>
            <a:r>
              <a:rPr lang="en-US" dirty="0">
                <a:latin typeface="Cooper Std Black" panose="0208090304030B020404" pitchFamily="18" charset="0"/>
              </a:rPr>
              <a:t>SUMMARY</a:t>
            </a:r>
          </a:p>
        </p:txBody>
      </p:sp>
      <p:sp>
        <p:nvSpPr>
          <p:cNvPr id="3" name="Content Placeholder 2">
            <a:extLst>
              <a:ext uri="{FF2B5EF4-FFF2-40B4-BE49-F238E27FC236}">
                <a16:creationId xmlns:a16="http://schemas.microsoft.com/office/drawing/2014/main" id="{6FDBFE37-ADDE-4D85-B74C-D13C5C684CC3}"/>
              </a:ext>
            </a:extLst>
          </p:cNvPr>
          <p:cNvSpPr>
            <a:spLocks noGrp="1"/>
          </p:cNvSpPr>
          <p:nvPr>
            <p:ph idx="1"/>
          </p:nvPr>
        </p:nvSpPr>
        <p:spPr>
          <a:xfrm>
            <a:off x="1295402" y="2556932"/>
            <a:ext cx="9601196" cy="3318936"/>
          </a:xfrm>
        </p:spPr>
        <p:txBody>
          <a:bodyPr>
            <a:normAutofit fontScale="92500" lnSpcReduction="20000"/>
          </a:bodyPr>
          <a:lstStyle/>
          <a:p>
            <a:pPr marL="0" indent="0" algn="ctr">
              <a:buNone/>
            </a:pPr>
            <a:r>
              <a:rPr lang="en-US" sz="3200" dirty="0">
                <a:latin typeface="Adobe Gothic Std B" panose="020B0800000000000000" pitchFamily="34" charset="-128"/>
                <a:ea typeface="Adobe Gothic Std B" panose="020B0800000000000000" pitchFamily="34" charset="-128"/>
              </a:rPr>
              <a:t>In the 21</a:t>
            </a:r>
            <a:r>
              <a:rPr lang="en-US" sz="3200" baseline="30000" dirty="0">
                <a:latin typeface="Adobe Gothic Std B" panose="020B0800000000000000" pitchFamily="34" charset="-128"/>
                <a:ea typeface="Adobe Gothic Std B" panose="020B0800000000000000" pitchFamily="34" charset="-128"/>
              </a:rPr>
              <a:t>st</a:t>
            </a:r>
            <a:r>
              <a:rPr lang="en-US" sz="3200" dirty="0">
                <a:latin typeface="Adobe Gothic Std B" panose="020B0800000000000000" pitchFamily="34" charset="-128"/>
                <a:ea typeface="Adobe Gothic Std B" panose="020B0800000000000000" pitchFamily="34" charset="-128"/>
              </a:rPr>
              <a:t> century, digital skills are the fastest route to youth development. When we teach one youth to code, design, or market online, we don’t just change their life, we also lift families, communities, and the nation.</a:t>
            </a:r>
          </a:p>
          <a:p>
            <a:pPr marL="0" indent="0" algn="ctr">
              <a:buNone/>
            </a:pPr>
            <a:r>
              <a:rPr lang="en-US" sz="3200" dirty="0">
                <a:latin typeface="Adobe Gothic Std B" panose="020B0800000000000000" pitchFamily="34" charset="-128"/>
                <a:ea typeface="Adobe Gothic Std B" panose="020B0800000000000000" pitchFamily="34" charset="-128"/>
              </a:rPr>
              <a:t>The future belongs to the digitally skilled. Empowering youth with these skills today secures Nigeria’s place in tomorrow’s economy</a:t>
            </a:r>
          </a:p>
        </p:txBody>
      </p:sp>
    </p:spTree>
    <p:extLst>
      <p:ext uri="{BB962C8B-B14F-4D97-AF65-F5344CB8AC3E}">
        <p14:creationId xmlns:p14="http://schemas.microsoft.com/office/powerpoint/2010/main" val="247182925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Click="0" advTm="2000">
        <p15:prstTrans prst="fracture"/>
        <p:sndAc>
          <p:stSnd>
            <p:snd r:embed="rId2" name="coin.wav"/>
          </p:stSnd>
        </p:sndAc>
      </p:transition>
    </mc:Choice>
    <mc:Fallback>
      <p:transition spd="slow" advClick="0" advTm="2000">
        <p:fade/>
        <p:sndAc>
          <p:stSnd>
            <p:snd r:embed="rId2" name="coin.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shingle">
          <a:fgClr>
            <a:schemeClr val="bg2">
              <a:lumMod val="50000"/>
            </a:schemeClr>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D7EE-2AB1-42DD-8110-64E4A7F496FA}"/>
              </a:ext>
            </a:extLst>
          </p:cNvPr>
          <p:cNvSpPr>
            <a:spLocks noGrp="1"/>
          </p:cNvSpPr>
          <p:nvPr>
            <p:ph type="title"/>
          </p:nvPr>
        </p:nvSpPr>
        <p:spPr>
          <a:xfrm>
            <a:off x="-865909" y="2327563"/>
            <a:ext cx="14486803" cy="2521528"/>
          </a:xfrm>
        </p:spPr>
        <p:txBody>
          <a:bodyPr>
            <a:normAutofit/>
          </a:bodyPr>
          <a:lstStyle/>
          <a:p>
            <a:r>
              <a:rPr lang="en-US" sz="6600" dirty="0">
                <a:latin typeface="Cooper Std Black" panose="0208090304030B020404" pitchFamily="18" charset="0"/>
                <a:ea typeface="Adobe Gothic Std B" panose="020B0800000000000000" pitchFamily="34" charset="-128"/>
              </a:rPr>
              <a:t>THANK YOU</a:t>
            </a:r>
          </a:p>
        </p:txBody>
      </p:sp>
    </p:spTree>
    <p:extLst>
      <p:ext uri="{BB962C8B-B14F-4D97-AF65-F5344CB8AC3E}">
        <p14:creationId xmlns:p14="http://schemas.microsoft.com/office/powerpoint/2010/main" val="2331940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advClick="0" advTm="2000">
        <p15:prstTrans prst="curtains"/>
        <p:sndAc>
          <p:stSnd>
            <p:snd r:embed="rId2" name="drumroll.wav"/>
          </p:stSnd>
        </p:sndAc>
      </p:transition>
    </mc:Choice>
    <mc:Fallback>
      <p:transition spd="slow" advClick="0" advTm="2000">
        <p:fade/>
        <p:sndAc>
          <p:stSnd>
            <p:snd r:embed="rId2" name="drumroll.wav"/>
          </p:stSnd>
        </p:sndAc>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82</TotalTime>
  <Words>439</Words>
  <Application>Microsoft Office PowerPoint</Application>
  <PresentationFormat>Widescreen</PresentationFormat>
  <Paragraphs>34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Adobe Gothic Std B</vt:lpstr>
      <vt:lpstr>Arial</vt:lpstr>
      <vt:lpstr>Cooper Std Black</vt:lpstr>
      <vt:lpstr>Garamond</vt:lpstr>
      <vt:lpstr>Organic</vt:lpstr>
      <vt:lpstr>YOUTH DEVELOPMENT TROUGH DIGITAL SKILLS</vt:lpstr>
      <vt:lpstr>PREAMBLE</vt:lpstr>
      <vt:lpstr>WHAT ARE DIGITAL SKILLS</vt:lpstr>
      <vt:lpstr>AIMS AND OBJECTIVE</vt:lpstr>
      <vt:lpstr>ADVANTAGES</vt:lpstr>
      <vt:lpstr>DIGITAL SKILLS TO LEARN </vt:lpstr>
      <vt:lpstr>IMAGES OF YOUTH LEARNING DIGITAL SKILLS</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DEVELOPMENT TROUGH DIGITAL SKILLS</dc:title>
  <dc:creator>SHEU PC</dc:creator>
  <cp:lastModifiedBy>SHEU PC</cp:lastModifiedBy>
  <cp:revision>61</cp:revision>
  <dcterms:created xsi:type="dcterms:W3CDTF">2026-04-30T16:20:04Z</dcterms:created>
  <dcterms:modified xsi:type="dcterms:W3CDTF">2026-04-30T19:33:26Z</dcterms:modified>
</cp:coreProperties>
</file>